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303338"/>
                </a:solidFill>
                <a:latin typeface="微软雅黑"/>
                <a:ea typeface="微软雅黑"/>
              </a:rPr>
              <a:t>技能实在太多了，到底装哪个？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7A7F85"/>
                </a:solidFill>
                <a:latin typeface="微软雅黑"/>
                <a:ea typeface="微软雅黑"/>
              </a:rPr>
              <a:t>第4课 · 分析篇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703320"/>
            <a:ext cx="2011680" cy="25603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7A7F85"/>
                </a:solidFill>
                <a:latin typeface="微软雅黑"/>
                <a:ea typeface="微软雅黑"/>
              </a:rPr>
              <a:t>技能实在太多了，到底装哪个？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03338"/>
                </a:solidFill>
                <a:latin typeface="微软雅黑"/>
                <a:ea typeface="微软雅黑"/>
              </a:rPr>
              <a:t>1. 别一个个翻了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EA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03338"/>
                </a:solidFill>
                <a:latin typeface="微软雅黑"/>
                <a:ea typeface="微软雅黑"/>
              </a:rPr>
              <a:t>• 打开 WorkBuddy：3 万多个 skill，翻半天挑不出来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03338"/>
                </a:solidFill>
                <a:latin typeface="微软雅黑"/>
                <a:ea typeface="微软雅黑"/>
              </a:rPr>
              <a:t>• Coze 上也一样：技能越多，越不知道装哪个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03338"/>
                </a:solidFill>
                <a:latin typeface="微软雅黑"/>
                <a:ea typeface="微软雅黑"/>
              </a:rPr>
              <a:t>• 一个个翻，翻到崩溃也翻不完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A7F85"/>
                </a:solidFill>
                <a:latin typeface="微软雅黑"/>
                <a:ea typeface="微软雅黑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7A7F85"/>
                </a:solidFill>
                <a:latin typeface="微软雅黑"/>
                <a:ea typeface="微软雅黑"/>
              </a:rPr>
              <a:t>技能实在太多了，到底装哪个？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03338"/>
                </a:solidFill>
                <a:latin typeface="微软雅黑"/>
                <a:ea typeface="微软雅黑"/>
              </a:rPr>
              <a:t>2. 我用 AI，两个小时全扒下来了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EA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332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03338"/>
                </a:solidFill>
                <a:latin typeface="微软雅黑"/>
                <a:ea typeface="微软雅黑"/>
              </a:rPr>
              <a:t>31,740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94560"/>
            <a:ext cx="332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03338"/>
                </a:solidFill>
                <a:latin typeface="微软雅黑"/>
                <a:ea typeface="微软雅黑"/>
              </a:rPr>
              <a:t>全量拉取条数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332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A7F85"/>
                </a:solidFill>
                <a:latin typeface="微软雅黑"/>
                <a:ea typeface="微软雅黑"/>
              </a:rPr>
              <a:t>服务端 31,940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2440" y="1417320"/>
            <a:ext cx="332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03338"/>
                </a:solidFill>
                <a:latin typeface="微软雅黑"/>
                <a:ea typeface="微软雅黑"/>
              </a:rPr>
              <a:t>99.4%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82440" y="2194560"/>
            <a:ext cx="332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03338"/>
                </a:solidFill>
                <a:latin typeface="微软雅黑"/>
                <a:ea typeface="微软雅黑"/>
              </a:rPr>
              <a:t>覆盖率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2440" y="2514600"/>
            <a:ext cx="332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A7F85"/>
                </a:solidFill>
                <a:latin typeface="微软雅黑"/>
                <a:ea typeface="微软雅黑"/>
              </a:rPr>
              <a:t>基本就是全量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9080" y="1417320"/>
            <a:ext cx="332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03338"/>
                </a:solidFill>
                <a:latin typeface="微软雅黑"/>
                <a:ea typeface="微软雅黑"/>
              </a:rPr>
              <a:t>2 小时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9080" y="2194560"/>
            <a:ext cx="332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03338"/>
                </a:solidFill>
                <a:latin typeface="微软雅黑"/>
                <a:ea typeface="微软雅黑"/>
              </a:rPr>
              <a:t>AI 爬取用时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9080" y="2514600"/>
            <a:ext cx="332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A7F85"/>
                </a:solidFill>
                <a:latin typeface="微软雅黑"/>
                <a:ea typeface="微软雅黑"/>
              </a:rPr>
              <a:t>人只做判断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17520"/>
            <a:ext cx="107899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03338"/>
                </a:solidFill>
                <a:latin typeface="微软雅黑"/>
                <a:ea typeface="微软雅黑"/>
              </a:rPr>
              <a:t>• 按使用量排序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03338"/>
                </a:solidFill>
                <a:latin typeface="微软雅黑"/>
                <a:ea typeface="微软雅黑"/>
              </a:rPr>
              <a:t>• 按分类、来源分层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03338"/>
                </a:solidFill>
                <a:latin typeface="微软雅黑"/>
                <a:ea typeface="微软雅黑"/>
              </a:rPr>
              <a:t>• 按打工人日常能不能用上过滤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26D2C"/>
                </a:solidFill>
                <a:latin typeface="微软雅黑"/>
                <a:ea typeface="微软雅黑"/>
              </a:rPr>
              <a:t>本页结论：方法就一句：让 AI 干爬数据的活，人只做判断。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A7F85"/>
                </a:solidFill>
                <a:latin typeface="微软雅黑"/>
                <a:ea typeface="微软雅黑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7A7F85"/>
                </a:solidFill>
                <a:latin typeface="微软雅黑"/>
                <a:ea typeface="微软雅黑"/>
              </a:rPr>
              <a:t>技能实在太多了，到底装哪个？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03338"/>
                </a:solidFill>
                <a:latin typeface="微软雅黑"/>
                <a:ea typeface="微软雅黑"/>
              </a:rPr>
              <a:t>3. 下载量最大的 5 个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EA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257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303338"/>
                </a:solidFill>
                <a:latin typeface="微软雅黑"/>
                <a:ea typeface="微软雅黑"/>
              </a:rPr>
              <a:t>技能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417320"/>
            <a:ext cx="5257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303338"/>
                </a:solidFill>
                <a:latin typeface="微软雅黑"/>
                <a:ea typeface="微软雅黑"/>
              </a:rPr>
              <a:t>使用量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10881360" cy="548640"/>
          </a:xfrm>
          <a:prstGeom prst="rect">
            <a:avLst/>
          </a:prstGeom>
          <a:solidFill>
            <a:srgbClr val="F5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5257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303338"/>
                </a:solidFill>
                <a:latin typeface="微软雅黑"/>
                <a:ea typeface="微软雅黑"/>
              </a:rPr>
              <a:t>PDF 文档处理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965960"/>
            <a:ext cx="5257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303338"/>
                </a:solidFill>
                <a:latin typeface="微软雅黑"/>
                <a:ea typeface="微软雅黑"/>
              </a:rPr>
              <a:t>111 万次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5257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303338"/>
                </a:solidFill>
                <a:latin typeface="微软雅黑"/>
                <a:ea typeface="微软雅黑"/>
              </a:rPr>
              <a:t>AI交付前自检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514600"/>
            <a:ext cx="5257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303338"/>
                </a:solidFill>
                <a:latin typeface="微软雅黑"/>
                <a:ea typeface="微软雅黑"/>
              </a:rPr>
              <a:t>93 万次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solidFill>
            <a:srgbClr val="F5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063239"/>
            <a:ext cx="5257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303338"/>
                </a:solidFill>
                <a:latin typeface="微软雅黑"/>
                <a:ea typeface="微软雅黑"/>
              </a:rPr>
              <a:t>NeoData金融搜索服务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063239"/>
            <a:ext cx="5257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303338"/>
                </a:solidFill>
                <a:latin typeface="微软雅黑"/>
                <a:ea typeface="微软雅黑"/>
              </a:rPr>
              <a:t>76 万次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11880"/>
            <a:ext cx="5257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303338"/>
                </a:solidFill>
                <a:latin typeface="微软雅黑"/>
                <a:ea typeface="微软雅黑"/>
              </a:rPr>
              <a:t>Skill安全审计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611880"/>
            <a:ext cx="5257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303338"/>
                </a:solidFill>
                <a:latin typeface="微软雅黑"/>
                <a:ea typeface="微软雅黑"/>
              </a:rPr>
              <a:t>66 万次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114800"/>
            <a:ext cx="10881360" cy="548640"/>
          </a:xfrm>
          <a:prstGeom prst="rect">
            <a:avLst/>
          </a:prstGeom>
          <a:solidFill>
            <a:srgbClr val="F5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160520"/>
            <a:ext cx="5257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303338"/>
                </a:solidFill>
                <a:latin typeface="微软雅黑"/>
                <a:ea typeface="微软雅黑"/>
              </a:rPr>
              <a:t>Excel 表格处理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160520"/>
            <a:ext cx="5257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303338"/>
                </a:solidFill>
                <a:latin typeface="微软雅黑"/>
                <a:ea typeface="微软雅黑"/>
              </a:rPr>
              <a:t>59 万次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A7F85"/>
                </a:solidFill>
                <a:latin typeface="微软雅黑"/>
                <a:ea typeface="微软雅黑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7A7F85"/>
                </a:solidFill>
                <a:latin typeface="微软雅黑"/>
                <a:ea typeface="微软雅黑"/>
              </a:rPr>
              <a:t>技能实在太多了，到底装哪个？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03338"/>
                </a:solidFill>
                <a:latin typeface="微软雅黑"/>
                <a:ea typeface="微软雅黑"/>
              </a:rPr>
              <a:t>4. 为什么偏偏是它们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EA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03338"/>
                </a:solidFill>
                <a:latin typeface="微软雅黑"/>
                <a:ea typeface="微软雅黑"/>
              </a:rPr>
              <a:t>• 天天用的办公刚需：PDF、Excel、PPT、Word 全是办公场景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03338"/>
                </a:solidFill>
                <a:latin typeface="微软雅黑"/>
                <a:ea typeface="微软雅黑"/>
              </a:rPr>
              <a:t>• 解决具体痛点：自检怕出错，去AI味怕被认出是 AI 写的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03338"/>
                </a:solidFill>
                <a:latin typeface="微软雅黑"/>
                <a:ea typeface="微软雅黑"/>
              </a:rPr>
              <a:t>• 最火的不是大厂做的：个人开发者占 31,556 个（99.4%），前两名都是个人开发者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A7F85"/>
                </a:solidFill>
                <a:latin typeface="微软雅黑"/>
                <a:ea typeface="微软雅黑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7A7F85"/>
                </a:solidFill>
                <a:latin typeface="微软雅黑"/>
                <a:ea typeface="微软雅黑"/>
              </a:rPr>
              <a:t>技能实在太多了，到底装哪个？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03338"/>
                </a:solidFill>
                <a:latin typeface="微软雅黑"/>
                <a:ea typeface="微软雅黑"/>
              </a:rPr>
              <a:t>5. 3 万多个 skill，都分布在哪些分类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EA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257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303338"/>
                </a:solidFill>
                <a:latin typeface="微软雅黑"/>
                <a:ea typeface="微软雅黑"/>
              </a:rPr>
              <a:t>分类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417320"/>
            <a:ext cx="5257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303338"/>
                </a:solidFill>
                <a:latin typeface="微软雅黑"/>
                <a:ea typeface="微软雅黑"/>
              </a:rPr>
              <a:t>数量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10881360" cy="548640"/>
          </a:xfrm>
          <a:prstGeom prst="rect">
            <a:avLst/>
          </a:prstGeom>
          <a:solidFill>
            <a:srgbClr val="F5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5257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303338"/>
                </a:solidFill>
                <a:latin typeface="微软雅黑"/>
                <a:ea typeface="微软雅黑"/>
              </a:rPr>
              <a:t>效率工具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965960"/>
            <a:ext cx="5257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303338"/>
                </a:solidFill>
                <a:latin typeface="微软雅黑"/>
                <a:ea typeface="微软雅黑"/>
              </a:rPr>
              <a:t>15,334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5257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303338"/>
                </a:solidFill>
                <a:latin typeface="微软雅黑"/>
                <a:ea typeface="微软雅黑"/>
              </a:rPr>
              <a:t>办公协同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514600"/>
            <a:ext cx="5257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303338"/>
                </a:solidFill>
                <a:latin typeface="微软雅黑"/>
                <a:ea typeface="微软雅黑"/>
              </a:rPr>
              <a:t>7,681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solidFill>
            <a:srgbClr val="F5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063239"/>
            <a:ext cx="5257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303338"/>
                </a:solidFill>
                <a:latin typeface="微软雅黑"/>
                <a:ea typeface="微软雅黑"/>
              </a:rPr>
              <a:t>商业运营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063239"/>
            <a:ext cx="5257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303338"/>
                </a:solidFill>
                <a:latin typeface="微软雅黑"/>
                <a:ea typeface="微软雅黑"/>
              </a:rPr>
              <a:t>7,418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11880"/>
            <a:ext cx="5257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303338"/>
                </a:solidFill>
                <a:latin typeface="微软雅黑"/>
                <a:ea typeface="微软雅黑"/>
              </a:rPr>
              <a:t>内容创作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611880"/>
            <a:ext cx="5257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303338"/>
                </a:solidFill>
                <a:latin typeface="微软雅黑"/>
                <a:ea typeface="微软雅黑"/>
              </a:rPr>
              <a:t>6,714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114800"/>
            <a:ext cx="10881360" cy="548640"/>
          </a:xfrm>
          <a:prstGeom prst="rect">
            <a:avLst/>
          </a:prstGeom>
          <a:solidFill>
            <a:srgbClr val="F5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160520"/>
            <a:ext cx="5257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303338"/>
                </a:solidFill>
                <a:latin typeface="微软雅黑"/>
                <a:ea typeface="微软雅黑"/>
              </a:rPr>
              <a:t>数据分析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160520"/>
            <a:ext cx="5257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303338"/>
                </a:solidFill>
                <a:latin typeface="微软雅黑"/>
                <a:ea typeface="微软雅黑"/>
              </a:rPr>
              <a:t>4,933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A7F85"/>
                </a:solidFill>
                <a:latin typeface="微软雅黑"/>
                <a:ea typeface="微软雅黑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7A7F85"/>
                </a:solidFill>
                <a:latin typeface="微软雅黑"/>
                <a:ea typeface="微软雅黑"/>
              </a:rPr>
              <a:t>技能实在太多了，到底装哪个？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03338"/>
                </a:solidFill>
                <a:latin typeface="微软雅黑"/>
                <a:ea typeface="微软雅黑"/>
              </a:rPr>
              <a:t>6. 大家最后都只用哪几类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EA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03338"/>
                </a:solidFill>
                <a:latin typeface="微软雅黑"/>
                <a:ea typeface="微软雅黑"/>
              </a:rPr>
              <a:t>• 60% 的 skill 总使用量不到 10 次，其中 5062 个是 0 次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03338"/>
                </a:solidFill>
                <a:latin typeface="微软雅黑"/>
                <a:ea typeface="微软雅黑"/>
              </a:rPr>
              <a:t>• 最火的两个，都不在官方精选 21 个名单里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03338"/>
                </a:solidFill>
                <a:latin typeface="微软雅黑"/>
                <a:ea typeface="微软雅黑"/>
              </a:rPr>
              <a:t>• 打工人日常就四样：文档、表格、演示、知识库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3008376"/>
            <a:ext cx="6400800" cy="237744"/>
          </a:xfrm>
          <a:prstGeom prst="rect">
            <a:avLst/>
          </a:prstGeom>
          <a:solidFill>
            <a:srgbClr val="EA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91840" y="3008376"/>
            <a:ext cx="4672584" cy="237744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9260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03338"/>
                </a:solidFill>
                <a:latin typeface="微软雅黑"/>
                <a:ea typeface="微软雅黑"/>
              </a:rPr>
              <a:t>前 100 名占总使用量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2926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03338"/>
                </a:solidFill>
                <a:latin typeface="微软雅黑"/>
                <a:ea typeface="微软雅黑"/>
              </a:rPr>
              <a:t>73%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3557016"/>
            <a:ext cx="6400800" cy="237744"/>
          </a:xfrm>
          <a:prstGeom prst="rect">
            <a:avLst/>
          </a:prstGeom>
          <a:solidFill>
            <a:srgbClr val="EA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3557016"/>
            <a:ext cx="5888736" cy="237744"/>
          </a:xfrm>
          <a:prstGeom prst="rect">
            <a:avLst/>
          </a:prstGeom>
          <a:solidFill>
            <a:srgbClr val="E2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474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03338"/>
                </a:solidFill>
                <a:latin typeface="微软雅黑"/>
                <a:ea typeface="微软雅黑"/>
              </a:rPr>
              <a:t>前 1000 名占总使用量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34747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03338"/>
                </a:solidFill>
                <a:latin typeface="微软雅黑"/>
                <a:ea typeface="微软雅黑"/>
              </a:rPr>
              <a:t>92%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26D2C"/>
                </a:solidFill>
                <a:latin typeface="微软雅黑"/>
                <a:ea typeface="微软雅黑"/>
              </a:rPr>
              <a:t>本页结论：大家只用头部那几个，挑 skill 看使用量，别只看精选。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A7F85"/>
                </a:solidFill>
                <a:latin typeface="微软雅黑"/>
                <a:ea typeface="微软雅黑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7A7F85"/>
                </a:solidFill>
                <a:latin typeface="微软雅黑"/>
                <a:ea typeface="微软雅黑"/>
              </a:rPr>
              <a:t>技能实在太多了，到底装哪个？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03338"/>
                </a:solidFill>
                <a:latin typeface="微软雅黑"/>
                <a:ea typeface="微软雅黑"/>
              </a:rPr>
              <a:t>7. 筛完，剩下这 8 个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EA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03338"/>
                </a:solidFill>
                <a:latin typeface="微软雅黑"/>
                <a:ea typeface="微软雅黑"/>
              </a:rPr>
              <a:t>• 下次一页页翻给你看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A7F85"/>
                </a:solidFill>
                <a:latin typeface="微软雅黑"/>
                <a:ea typeface="微软雅黑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7A7F85"/>
                </a:solidFill>
                <a:latin typeface="微软雅黑"/>
                <a:ea typeface="微软雅黑"/>
              </a:rPr>
              <a:t>技能实在太多了，到底装哪个？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03338"/>
                </a:solidFill>
                <a:latin typeface="微软雅黑"/>
                <a:ea typeface="微软雅黑"/>
              </a:rPr>
              <a:t>8. 数据口径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EA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03338"/>
                </a:solidFill>
                <a:latin typeface="微软雅黑"/>
                <a:ea typeface="微软雅黑"/>
              </a:rPr>
              <a:t>• 来源：WorkBuddy 客户端技能市场，采集 2026-10-26，使用量口径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03338"/>
                </a:solidFill>
                <a:latin typeface="微软雅黑"/>
                <a:ea typeface="微软雅黑"/>
              </a:rPr>
              <a:t>• 一个 skill 可挂多个分类，分类数量合计大于 skill 总数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A7F85"/>
                </a:solidFill>
                <a:latin typeface="微软雅黑"/>
                <a:ea typeface="微软雅黑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