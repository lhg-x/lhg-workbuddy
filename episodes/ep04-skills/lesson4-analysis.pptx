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占总使用量</c:v>
                </c:pt>
              </c:strCache>
            </c:strRef>
          </c:tx>
          <c:spPr>
            <a:solidFill>
              <a:srgbClr val="1F4E7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4E7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E7C7B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前 100 名</c:v>
                  </c:pt>
                  <c:pt idx="1">
                    <c:v>前 1000 名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73</c:v>
                </c:pt>
                <c:pt idx="1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965960"/>
            <a:ext cx="1097280" cy="7315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1732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EC8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第4课 · 分析篇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224028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技能实在太多了，到底装哪个？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329184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6E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WorkBuddy 3 万多个 skill 的全量分析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52120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31,740 条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5806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C8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全量拉取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97680" y="52120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99.4%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297680" y="5806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C8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覆盖率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046720" y="52120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2026-10-26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8046720" y="5806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C8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采集日期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137392" y="6473952"/>
            <a:ext cx="5029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8EC8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1/9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钩子 · 共情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0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别一个个翻了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53312"/>
            <a:ext cx="11094415" cy="18288"/>
          </a:xfrm>
          <a:prstGeom prst="rect">
            <a:avLst/>
          </a:prstGeom>
          <a:solidFill>
            <a:srgbClr val="D0D7DE"/>
          </a:solidFill>
          <a:ln/>
        </p:spPr>
      </p:sp>
      <p:sp>
        <p:nvSpPr>
          <p:cNvPr id="5" name="Text 3"/>
          <p:cNvSpPr/>
          <p:nvPr/>
        </p:nvSpPr>
        <p:spPr>
          <a:xfrm>
            <a:off x="11137392" y="6473952"/>
            <a:ext cx="5029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2/9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7C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indent="0" marL="0">
              <a:buNone/>
            </a:pPr>
            <a:r>
              <a:rPr lang="en-US" sz="1900" dirty="0">
                <a:solidFill>
                  <a:srgbClr val="1A20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打开 WorkBuddy：3 万多个 skill，翻半天挑不出来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7C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indent="0" marL="0">
              <a:buNone/>
            </a:pPr>
            <a:r>
              <a:rPr lang="en-US" sz="1900" dirty="0">
                <a:solidFill>
                  <a:srgbClr val="1A20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Coze 上也一样：技能越多，越不知道装哪个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48640" y="3383280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7C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indent="0" marL="0">
              <a:buNone/>
            </a:pPr>
            <a:r>
              <a:rPr lang="en-US" sz="1900" dirty="0">
                <a:solidFill>
                  <a:srgbClr val="1A20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一个个翻，翻到崩溃也翻不完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方法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0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我用 AI，两个小时全扒下来了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53312"/>
            <a:ext cx="11094415" cy="18288"/>
          </a:xfrm>
          <a:prstGeom prst="rect">
            <a:avLst/>
          </a:prstGeom>
          <a:solidFill>
            <a:srgbClr val="D0D7DE"/>
          </a:solidFill>
          <a:ln/>
        </p:spPr>
      </p:sp>
      <p:sp>
        <p:nvSpPr>
          <p:cNvPr id="5" name="Text 3"/>
          <p:cNvSpPr/>
          <p:nvPr/>
        </p:nvSpPr>
        <p:spPr>
          <a:xfrm>
            <a:off x="11137392" y="6473952"/>
            <a:ext cx="5029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3/9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3511296" cy="1737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600200"/>
            <a:ext cx="3511296" cy="6400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828800"/>
            <a:ext cx="30540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31,740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77240" y="2514600"/>
            <a:ext cx="30540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全量拉取条数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2880360"/>
            <a:ext cx="30540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服务端 31,940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34256" y="1600200"/>
            <a:ext cx="3511296" cy="1737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4334256" y="1600200"/>
            <a:ext cx="3511296" cy="6400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3" name="Text 11"/>
          <p:cNvSpPr/>
          <p:nvPr/>
        </p:nvSpPr>
        <p:spPr>
          <a:xfrm>
            <a:off x="4562856" y="1828800"/>
            <a:ext cx="30540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99.4%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562856" y="2514600"/>
            <a:ext cx="30540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覆盖率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62856" y="2880360"/>
            <a:ext cx="30540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基本就是全量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19872" y="1600200"/>
            <a:ext cx="3511296" cy="1737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8119872" y="1600200"/>
            <a:ext cx="3511296" cy="6400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8" name="Text 16"/>
          <p:cNvSpPr/>
          <p:nvPr/>
        </p:nvSpPr>
        <p:spPr>
          <a:xfrm>
            <a:off x="8348472" y="1828800"/>
            <a:ext cx="30540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小时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8348472" y="2514600"/>
            <a:ext cx="30540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爬取用时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348472" y="2880360"/>
            <a:ext cx="30540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人只做判断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3703320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C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indent="0" marL="0">
              <a:buNone/>
            </a:pPr>
            <a:r>
              <a:rPr lang="en-US" sz="1700" dirty="0">
                <a:solidFill>
                  <a:srgbClr val="1A20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按使用量排序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48640" y="4270248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C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indent="0" marL="0">
              <a:buNone/>
            </a:pPr>
            <a:r>
              <a:rPr lang="en-US" sz="1700" dirty="0">
                <a:solidFill>
                  <a:srgbClr val="1A20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按分类、来源分层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48640" y="4837176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C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indent="0" marL="0">
              <a:buNone/>
            </a:pPr>
            <a:r>
              <a:rPr lang="en-US" sz="1700" dirty="0">
                <a:solidFill>
                  <a:srgbClr val="1A20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按打工人日常能不能用上过滤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548640" y="5897880"/>
            <a:ext cx="11094415" cy="502920"/>
          </a:xfrm>
          <a:prstGeom prst="rect">
            <a:avLst/>
          </a:prstGeom>
          <a:solidFill>
            <a:srgbClr val="E6F2F2"/>
          </a:solidFill>
          <a:ln/>
        </p:spPr>
      </p:sp>
      <p:sp>
        <p:nvSpPr>
          <p:cNvPr id="25" name="Shape 23"/>
          <p:cNvSpPr/>
          <p:nvPr/>
        </p:nvSpPr>
        <p:spPr>
          <a:xfrm>
            <a:off x="548640" y="5897880"/>
            <a:ext cx="73152" cy="50292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5897880"/>
            <a:ext cx="106372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方法就一句：让 AI 干爬数据的活，人只做判断。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证据 · 下载量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0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下载量最大的 5 个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53312"/>
            <a:ext cx="11094415" cy="18288"/>
          </a:xfrm>
          <a:prstGeom prst="rect">
            <a:avLst/>
          </a:prstGeom>
          <a:solidFill>
            <a:srgbClr val="D0D7D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来源：WorkBuddy 客户端技能市场，采集 2026-10-26，使用量口径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37392" y="6473952"/>
            <a:ext cx="5029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4/9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4415" cy="914400"/>
        </p:xfrm>
        <a:graphic>
          <a:graphicData uri="http://schemas.openxmlformats.org/drawingml/2006/table">
            <a:tbl>
              <a:tblPr/>
              <a:tblGrid>
                <a:gridCol w="7434072"/>
                <a:gridCol w="3657600"/>
              </a:tblGrid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技能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使用量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202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PDF 文档处理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A202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111 万次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202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AI交付前自检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A202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93 万次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202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NeoData金融搜索服务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A202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76 万次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202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Skill安全审计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A202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66 万次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202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Excel 表格处理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A202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59 万次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5897880"/>
            <a:ext cx="11094415" cy="502920"/>
          </a:xfrm>
          <a:prstGeom prst="rect">
            <a:avLst/>
          </a:prstGeom>
          <a:solidFill>
            <a:srgbClr val="E6F2F2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5897880"/>
            <a:ext cx="73152" cy="50292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5897880"/>
            <a:ext cx="106372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头部 5 个里，3 个是办公场景。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解读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0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为什么偏偏是它们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53312"/>
            <a:ext cx="11094415" cy="18288"/>
          </a:xfrm>
          <a:prstGeom prst="rect">
            <a:avLst/>
          </a:prstGeom>
          <a:solidFill>
            <a:srgbClr val="D0D7DE"/>
          </a:solidFill>
          <a:ln/>
        </p:spPr>
      </p:sp>
      <p:sp>
        <p:nvSpPr>
          <p:cNvPr id="5" name="Text 3"/>
          <p:cNvSpPr/>
          <p:nvPr/>
        </p:nvSpPr>
        <p:spPr>
          <a:xfrm>
            <a:off x="11137392" y="6473952"/>
            <a:ext cx="5029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5/9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C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indent="0" marL="0">
              <a:buNone/>
            </a:pPr>
            <a:r>
              <a:rPr lang="en-US" sz="1800" dirty="0">
                <a:solidFill>
                  <a:srgbClr val="1A20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天天用的办公刚需：PDF、Excel、PPT、Word 全是办公场景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C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indent="0" marL="0">
              <a:buNone/>
            </a:pPr>
            <a:r>
              <a:rPr lang="en-US" sz="1800" dirty="0">
                <a:solidFill>
                  <a:srgbClr val="1A20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解决具体痛点：自检怕出错，去 AI 味怕被认出是 AI 写的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3383280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C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indent="0" marL="0">
              <a:buNone/>
            </a:pPr>
            <a:r>
              <a:rPr lang="en-US" sz="1800" dirty="0">
                <a:solidFill>
                  <a:srgbClr val="1A20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最火的不是大厂做的：个人开发者占 31,556 个（99.4%），前两名都是个人开发者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证据 · 分类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0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万多个 skill，都分布在哪些分类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53312"/>
            <a:ext cx="11094415" cy="18288"/>
          </a:xfrm>
          <a:prstGeom prst="rect">
            <a:avLst/>
          </a:prstGeom>
          <a:solidFill>
            <a:srgbClr val="D0D7D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来源：WorkBuddy 客户端技能市场，采集 2026-10-26，使用量口径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37392" y="6473952"/>
            <a:ext cx="5029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6/9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4415" cy="914400"/>
        </p:xfrm>
        <a:graphic>
          <a:graphicData uri="http://schemas.openxmlformats.org/drawingml/2006/table">
            <a:tbl>
              <a:tblPr/>
              <a:tblGrid>
                <a:gridCol w="7434072"/>
                <a:gridCol w="3657600"/>
              </a:tblGrid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分类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数量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202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效率工具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A202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15,334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202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办公协同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A202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7,681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202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商业运营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A202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7,418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202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内容创作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A202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6,714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202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数据分析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A202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4,933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5897880"/>
            <a:ext cx="11094415" cy="502920"/>
          </a:xfrm>
          <a:prstGeom prst="rect">
            <a:avLst/>
          </a:prstGeom>
          <a:solidFill>
            <a:srgbClr val="E6F2F2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5897880"/>
            <a:ext cx="73152" cy="50292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5897880"/>
            <a:ext cx="106372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效率工具一个分类就接近一半。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证据 · 用户倾向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0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大家最后都只用哪几类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53312"/>
            <a:ext cx="11094415" cy="18288"/>
          </a:xfrm>
          <a:prstGeom prst="rect">
            <a:avLst/>
          </a:prstGeom>
          <a:solidFill>
            <a:srgbClr val="D0D7D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来源：WorkBuddy 客户端技能市场，采集 2026-10-26，使用量口径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37392" y="6473952"/>
            <a:ext cx="5029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7/9</a:t>
            </a:r>
            <a:endParaRPr lang="en-US" sz="11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1645920"/>
          <a:ext cx="566928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6583680" y="1783080"/>
            <a:ext cx="50566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indent="0" marL="0">
              <a:buNone/>
            </a:pPr>
            <a:r>
              <a:rPr lang="en-US" sz="1600" dirty="0">
                <a:solidFill>
                  <a:srgbClr val="1A20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60% 的 skill 总使用量不到 10 次，其中 5062 个是 0 次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583680" y="2560320"/>
            <a:ext cx="50566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indent="0" marL="0">
              <a:buNone/>
            </a:pPr>
            <a:r>
              <a:rPr lang="en-US" sz="1600" dirty="0">
                <a:solidFill>
                  <a:srgbClr val="1A20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最火的两个，都不在官方精选 21 个名单里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583680" y="3337560"/>
            <a:ext cx="50566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indent="0" marL="0">
              <a:buNone/>
            </a:pPr>
            <a:r>
              <a:rPr lang="en-US" sz="1600" dirty="0">
                <a:solidFill>
                  <a:srgbClr val="1A20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打工人日常就四样：文档、表格、演示、知识库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48640" y="5897880"/>
            <a:ext cx="11094415" cy="502920"/>
          </a:xfrm>
          <a:prstGeom prst="rect">
            <a:avLst/>
          </a:prstGeom>
          <a:solidFill>
            <a:srgbClr val="E6F2F2"/>
          </a:solidFill>
          <a:ln/>
        </p:spPr>
      </p:sp>
      <p:sp>
        <p:nvSpPr>
          <p:cNvPr id="12" name="Shape 9"/>
          <p:cNvSpPr/>
          <p:nvPr/>
        </p:nvSpPr>
        <p:spPr>
          <a:xfrm>
            <a:off x="548640" y="5897880"/>
            <a:ext cx="73152" cy="50292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" y="5897880"/>
            <a:ext cx="106372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结论：大家只用头部那几个，挑 skill 看使用量，别只看精选。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过渡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0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筛完，剩下这 8 个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53312"/>
            <a:ext cx="11094415" cy="18288"/>
          </a:xfrm>
          <a:prstGeom prst="rect">
            <a:avLst/>
          </a:prstGeom>
          <a:solidFill>
            <a:srgbClr val="D0D7DE"/>
          </a:solidFill>
          <a:ln/>
        </p:spPr>
      </p:sp>
      <p:sp>
        <p:nvSpPr>
          <p:cNvPr id="5" name="Text 3"/>
          <p:cNvSpPr/>
          <p:nvPr/>
        </p:nvSpPr>
        <p:spPr>
          <a:xfrm>
            <a:off x="11137392" y="6473952"/>
            <a:ext cx="5029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8/9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7C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indent="0" marL="0">
              <a:buNone/>
            </a:pPr>
            <a:r>
              <a:rPr lang="en-US" sz="1900" dirty="0">
                <a:solidFill>
                  <a:srgbClr val="1A20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下次一页页翻给你看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附录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0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数据口径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53312"/>
            <a:ext cx="11094415" cy="18288"/>
          </a:xfrm>
          <a:prstGeom prst="rect">
            <a:avLst/>
          </a:prstGeom>
          <a:solidFill>
            <a:srgbClr val="D0D7DE"/>
          </a:solidFill>
          <a:ln/>
        </p:spPr>
      </p:sp>
      <p:sp>
        <p:nvSpPr>
          <p:cNvPr id="5" name="Text 3"/>
          <p:cNvSpPr/>
          <p:nvPr/>
        </p:nvSpPr>
        <p:spPr>
          <a:xfrm>
            <a:off x="11137392" y="6473952"/>
            <a:ext cx="5029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9/9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C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indent="0" marL="0">
              <a:buNone/>
            </a:pPr>
            <a:r>
              <a:rPr lang="en-US" sz="1800" dirty="0">
                <a:solidFill>
                  <a:srgbClr val="1A20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来源：WorkBuddy 客户端技能市场，采集 2026-10-26，使用量口径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C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indent="0" marL="0">
              <a:buNone/>
            </a:pPr>
            <a:r>
              <a:rPr lang="en-US" sz="1800" dirty="0">
                <a:solidFill>
                  <a:srgbClr val="1A20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一个 skill 可挂多个分类，分类数量合计大于 skill 总数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技能实在太多了，到底装哪个？</dc:title>
  <dc:subject>PptxGenJS Presentation</dc:subject>
  <dc:creator>PptxGenJS</dc:creator>
  <cp:lastModifiedBy>PptxGenJS</cp:lastModifiedBy>
  <cp:revision>1</cp:revision>
  <dcterms:created xsi:type="dcterms:W3CDTF">2026-10-31T09:34:19Z</dcterms:created>
  <dcterms:modified xsi:type="dcterms:W3CDTF">2026-10-31T09:34:19Z</dcterms:modified>
</cp:coreProperties>
</file>